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4" r:id="rId11"/>
    <p:sldId id="266" r:id="rId12"/>
    <p:sldId id="270" r:id="rId13"/>
    <p:sldId id="272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B07228E-DBE5-44CD-8012-A914C07F1321}" v="740" dt="2026-01-07T14:31:12.023"/>
    <p1510:client id="{45F6D67F-1A55-4DD7-835D-B4142AB2830D}" v="387" dt="2026-01-07T17:36:40.369"/>
    <p1510:client id="{75C3F493-030D-4262-9FD0-B500FA5ED554}" v="9" dt="2026-01-08T04:11:08.02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72" autoAdjust="0"/>
    <p:restoredTop sz="94660"/>
  </p:normalViewPr>
  <p:slideViewPr>
    <p:cSldViewPr snapToGrid="0">
      <p:cViewPr varScale="1">
        <p:scale>
          <a:sx n="75" d="100"/>
          <a:sy n="75" d="100"/>
        </p:scale>
        <p:origin x="62" y="28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 t="-13000" b="-1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139863" y="339486"/>
            <a:ext cx="10198273" cy="1531655"/>
          </a:xfrm>
        </p:spPr>
        <p:txBody>
          <a:bodyPr>
            <a:normAutofit/>
          </a:bodyPr>
          <a:lstStyle/>
          <a:p>
            <a:r>
              <a:rPr lang="en-US" sz="5400" b="1" dirty="0">
                <a:latin typeface="Times New Roman"/>
                <a:ea typeface="+mj-lt"/>
                <a:cs typeface="+mj-lt"/>
              </a:rPr>
              <a:t>Software Architecture Design</a:t>
            </a:r>
            <a:endParaRPr lang="en-US" sz="5400" b="1" dirty="0">
              <a:latin typeface="Times New Roman"/>
              <a:cs typeface="Times New Roman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488493" y="2140669"/>
            <a:ext cx="6179507" cy="311713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b="1" dirty="0">
                <a:latin typeface="Times New Roman"/>
                <a:ea typeface="+mn-lt"/>
                <a:cs typeface="+mn-lt"/>
              </a:rPr>
              <a:t>Project's name: </a:t>
            </a:r>
            <a:endParaRPr lang="en-US" b="1">
              <a:latin typeface="Times New Roman"/>
              <a:cs typeface="Times New Roman"/>
            </a:endParaRPr>
          </a:p>
          <a:p>
            <a:r>
              <a:rPr lang="en-US" sz="2800" b="1" dirty="0">
                <a:latin typeface="Times New Roman"/>
                <a:ea typeface="+mn-lt"/>
                <a:cs typeface="+mn-lt"/>
              </a:rPr>
              <a:t>Hospital Management system</a:t>
            </a:r>
            <a:endParaRPr lang="en-US" sz="2800" b="1">
              <a:latin typeface="Times New Roman"/>
              <a:cs typeface="Times New Roman"/>
            </a:endParaRPr>
          </a:p>
          <a:p>
            <a:r>
              <a:rPr lang="en-US" dirty="0">
                <a:latin typeface="Times New Roman"/>
                <a:cs typeface="Times New Roman"/>
              </a:rPr>
              <a:t>Group members:</a:t>
            </a:r>
          </a:p>
          <a:p>
            <a:r>
              <a:rPr lang="en-US" dirty="0">
                <a:latin typeface="Times New Roman"/>
                <a:cs typeface="Times New Roman"/>
              </a:rPr>
              <a:t>Aliza Yasin –F2024065281</a:t>
            </a:r>
          </a:p>
          <a:p>
            <a:r>
              <a:rPr lang="en-US" dirty="0">
                <a:latin typeface="Times New Roman"/>
                <a:cs typeface="Times New Roman"/>
              </a:rPr>
              <a:t>Hadiya Malik--F2024065269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 t="-2000" b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3532CE-41F7-C536-F0E9-895187D179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106358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latin typeface="Times New Roman"/>
                <a:ea typeface="+mj-lt"/>
                <a:cs typeface="+mj-lt"/>
              </a:rPr>
              <a:t>Project's Scope</a:t>
            </a:r>
            <a:endParaRPr lang="en-US" b="1" dirty="0">
              <a:latin typeface="Times New Roman"/>
              <a:cs typeface="Times New Roman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E551EF-630E-AB56-66E5-7931930744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b="1" dirty="0">
                <a:latin typeface="Times New Roman"/>
                <a:ea typeface="+mn-lt"/>
                <a:cs typeface="+mn-lt"/>
              </a:rPr>
              <a:t>Scope of Hospital Management System(HMS) is:</a:t>
            </a:r>
            <a:endParaRPr lang="en-US" b="1" dirty="0">
              <a:latin typeface="Times New Roman"/>
              <a:cs typeface="Times New Roman"/>
            </a:endParaRPr>
          </a:p>
          <a:p>
            <a:r>
              <a:rPr lang="en-US" dirty="0">
                <a:latin typeface="Times New Roman"/>
                <a:ea typeface="+mn-lt"/>
                <a:cs typeface="Times New Roman"/>
              </a:rPr>
              <a:t>Patient registration</a:t>
            </a:r>
          </a:p>
          <a:p>
            <a:r>
              <a:rPr lang="en-US" dirty="0">
                <a:latin typeface="Times New Roman"/>
                <a:ea typeface="+mn-lt"/>
                <a:cs typeface="Times New Roman"/>
              </a:rPr>
              <a:t>Doctor management</a:t>
            </a:r>
          </a:p>
          <a:p>
            <a:r>
              <a:rPr lang="en-US" dirty="0">
                <a:latin typeface="Times New Roman"/>
                <a:ea typeface="+mn-lt"/>
                <a:cs typeface="Times New Roman"/>
              </a:rPr>
              <a:t>Appointment Scheduling</a:t>
            </a:r>
          </a:p>
          <a:p>
            <a:r>
              <a:rPr lang="en-US" dirty="0">
                <a:latin typeface="Times New Roman"/>
                <a:ea typeface="+mn-lt"/>
                <a:cs typeface="Times New Roman"/>
              </a:rPr>
              <a:t>Billing System</a:t>
            </a:r>
          </a:p>
          <a:p>
            <a:r>
              <a:rPr lang="en-US" dirty="0">
                <a:latin typeface="Times New Roman"/>
                <a:ea typeface="+mn-lt"/>
                <a:cs typeface="Times New Roman"/>
              </a:rPr>
              <a:t>Room and ward management</a:t>
            </a:r>
          </a:p>
          <a:p>
            <a:r>
              <a:rPr lang="en-US" dirty="0">
                <a:latin typeface="Times New Roman"/>
                <a:ea typeface="+mn-lt"/>
                <a:cs typeface="Times New Roman"/>
              </a:rPr>
              <a:t>Pharmacy</a:t>
            </a:r>
          </a:p>
          <a:p>
            <a:endParaRPr lang="en-US" dirty="0">
              <a:latin typeface="Times New Roman"/>
              <a:ea typeface="+mn-lt"/>
              <a:cs typeface="Times New Roman"/>
            </a:endParaRPr>
          </a:p>
          <a:p>
            <a:endParaRPr lang="en-US" dirty="0">
              <a:latin typeface="Times New Roman"/>
              <a:ea typeface="+mn-lt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3279910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 t="-3000" b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8BECCD-D685-AA18-B204-4286977B17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Times New Roman"/>
                <a:cs typeface="Times New Roman"/>
              </a:rPr>
              <a:t>Software architecture</a:t>
            </a:r>
            <a:endParaRPr lang="en-US">
              <a:latin typeface="Times New Roman"/>
              <a:cs typeface="Times New Roman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B09AD16-3E85-FD27-0D56-E0A80A3D36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4063" y="2023954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Font typeface="Arial"/>
              <a:buChar char="•"/>
            </a:pPr>
            <a:r>
              <a:rPr lang="en-US" b="1" dirty="0">
                <a:latin typeface="Times New Roman"/>
                <a:ea typeface="+mn-lt"/>
                <a:cs typeface="+mn-lt"/>
              </a:rPr>
              <a:t>Definition:</a:t>
            </a:r>
            <a:r>
              <a:rPr lang="en-US" dirty="0">
                <a:latin typeface="Times New Roman"/>
                <a:ea typeface="+mn-lt"/>
                <a:cs typeface="+mn-lt"/>
              </a:rPr>
              <a:t> It is the </a:t>
            </a:r>
            <a:r>
              <a:rPr lang="en-US" b="1" dirty="0">
                <a:latin typeface="Times New Roman"/>
                <a:ea typeface="+mn-lt"/>
                <a:cs typeface="+mn-lt"/>
              </a:rPr>
              <a:t>structure</a:t>
            </a:r>
            <a:r>
              <a:rPr lang="en-US" dirty="0">
                <a:latin typeface="Times New Roman"/>
                <a:ea typeface="+mn-lt"/>
                <a:cs typeface="+mn-lt"/>
              </a:rPr>
              <a:t> of a software system.</a:t>
            </a:r>
            <a:endParaRPr lang="en-US" dirty="0">
              <a:latin typeface="Times New Roman"/>
              <a:cs typeface="Times New Roman"/>
            </a:endParaRPr>
          </a:p>
          <a:p>
            <a:pPr>
              <a:buFont typeface="Arial"/>
              <a:buChar char="•"/>
            </a:pPr>
            <a:r>
              <a:rPr lang="en-US" b="1" dirty="0">
                <a:latin typeface="Times New Roman"/>
                <a:ea typeface="+mn-lt"/>
                <a:cs typeface="+mn-lt"/>
              </a:rPr>
              <a:t>Purpose:</a:t>
            </a:r>
            <a:r>
              <a:rPr lang="en-US" dirty="0">
                <a:latin typeface="Times New Roman"/>
                <a:ea typeface="+mn-lt"/>
                <a:cs typeface="+mn-lt"/>
              </a:rPr>
              <a:t> It defines how different parts of the software are organized.</a:t>
            </a:r>
            <a:endParaRPr lang="en-US" dirty="0">
              <a:latin typeface="Times New Roman"/>
              <a:cs typeface="Times New Roman"/>
            </a:endParaRPr>
          </a:p>
          <a:p>
            <a:pPr>
              <a:buFont typeface="Arial"/>
              <a:buChar char="•"/>
            </a:pPr>
            <a:r>
              <a:rPr lang="en-US" b="1" dirty="0">
                <a:latin typeface="Times New Roman"/>
                <a:ea typeface="+mn-lt"/>
                <a:cs typeface="+mn-lt"/>
              </a:rPr>
              <a:t>Function:</a:t>
            </a:r>
            <a:r>
              <a:rPr lang="en-US" dirty="0">
                <a:latin typeface="Times New Roman"/>
                <a:ea typeface="+mn-lt"/>
                <a:cs typeface="+mn-lt"/>
              </a:rPr>
              <a:t> It explains how different components </a:t>
            </a:r>
            <a:r>
              <a:rPr lang="en-US" b="1" dirty="0">
                <a:latin typeface="Times New Roman"/>
                <a:ea typeface="+mn-lt"/>
                <a:cs typeface="+mn-lt"/>
              </a:rPr>
              <a:t>link</a:t>
            </a:r>
            <a:r>
              <a:rPr lang="en-US" dirty="0">
                <a:latin typeface="Times New Roman"/>
                <a:ea typeface="+mn-lt"/>
                <a:cs typeface="+mn-lt"/>
              </a:rPr>
              <a:t> and </a:t>
            </a:r>
            <a:r>
              <a:rPr lang="en-US" b="1" dirty="0">
                <a:latin typeface="Times New Roman"/>
                <a:ea typeface="+mn-lt"/>
                <a:cs typeface="+mn-lt"/>
              </a:rPr>
              <a:t>work</a:t>
            </a:r>
            <a:r>
              <a:rPr lang="en-US" dirty="0">
                <a:latin typeface="Times New Roman"/>
                <a:ea typeface="+mn-lt"/>
                <a:cs typeface="+mn-lt"/>
              </a:rPr>
              <a:t> together.</a:t>
            </a:r>
            <a:endParaRPr lang="en-US">
              <a:latin typeface="Times New Roman"/>
              <a:cs typeface="Times New Roman"/>
            </a:endParaRPr>
          </a:p>
          <a:p>
            <a:pPr>
              <a:buFont typeface="Arial"/>
              <a:buChar char="•"/>
            </a:pPr>
            <a:r>
              <a:rPr lang="en-US" b="1" dirty="0">
                <a:latin typeface="Times New Roman"/>
                <a:ea typeface="+mn-lt"/>
                <a:cs typeface="+mn-lt"/>
              </a:rPr>
              <a:t>Goal:</a:t>
            </a:r>
            <a:r>
              <a:rPr lang="en-US" dirty="0">
                <a:latin typeface="Times New Roman"/>
                <a:ea typeface="+mn-lt"/>
                <a:cs typeface="+mn-lt"/>
              </a:rPr>
              <a:t> To make the system </a:t>
            </a:r>
            <a:r>
              <a:rPr lang="en-US" b="1" dirty="0">
                <a:latin typeface="Times New Roman"/>
                <a:ea typeface="+mn-lt"/>
                <a:cs typeface="+mn-lt"/>
              </a:rPr>
              <a:t>stable</a:t>
            </a:r>
            <a:r>
              <a:rPr lang="en-US" dirty="0">
                <a:latin typeface="Times New Roman"/>
                <a:ea typeface="+mn-lt"/>
                <a:cs typeface="+mn-lt"/>
              </a:rPr>
              <a:t>, </a:t>
            </a:r>
            <a:r>
              <a:rPr lang="en-US" b="1" dirty="0">
                <a:latin typeface="Times New Roman"/>
                <a:ea typeface="+mn-lt"/>
                <a:cs typeface="+mn-lt"/>
              </a:rPr>
              <a:t>secure</a:t>
            </a:r>
            <a:r>
              <a:rPr lang="en-US" dirty="0">
                <a:latin typeface="Times New Roman"/>
                <a:ea typeface="+mn-lt"/>
                <a:cs typeface="+mn-lt"/>
              </a:rPr>
              <a:t>, and </a:t>
            </a:r>
            <a:r>
              <a:rPr lang="en-US" b="1" dirty="0">
                <a:latin typeface="Times New Roman"/>
                <a:ea typeface="+mn-lt"/>
                <a:cs typeface="+mn-lt"/>
              </a:rPr>
              <a:t>easy to manage</a:t>
            </a:r>
            <a:r>
              <a:rPr lang="en-US" dirty="0">
                <a:latin typeface="Times New Roman"/>
                <a:ea typeface="+mn-lt"/>
                <a:cs typeface="+mn-lt"/>
              </a:rPr>
              <a:t>.</a:t>
            </a:r>
            <a:endParaRPr lang="en-US" dirty="0">
              <a:latin typeface="Times New Roman"/>
              <a:cs typeface="Times New Roman"/>
            </a:endParaRPr>
          </a:p>
          <a:p>
            <a:pPr>
              <a:buFont typeface="Arial"/>
              <a:buChar char="•"/>
            </a:pPr>
            <a:r>
              <a:rPr lang="en-US" dirty="0">
                <a:latin typeface="Times New Roman"/>
                <a:ea typeface="+mn-lt"/>
                <a:cs typeface="+mn-lt"/>
              </a:rPr>
              <a:t>In HMS it will show how different parts (Doctor, Patient, Billing modules) connect with each other.</a:t>
            </a:r>
          </a:p>
          <a:p>
            <a:pPr marL="0" indent="0">
              <a:buNone/>
            </a:pPr>
            <a:endParaRPr lang="en-US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1959441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4A8B04-3FEB-5102-15FE-D98EABF46D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Times New Roman"/>
                <a:cs typeface="Times New Roman"/>
              </a:rPr>
              <a:t>Types of Architecture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EDDB08-F9BD-9BC5-3031-C5C252428B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20000"/>
          </a:bodyPr>
          <a:lstStyle/>
          <a:p>
            <a:r>
              <a:rPr lang="en-US" dirty="0">
                <a:latin typeface="Times New Roman"/>
                <a:ea typeface="+mn-lt"/>
                <a:cs typeface="+mn-lt"/>
              </a:rPr>
              <a:t>Layered Architecture</a:t>
            </a:r>
            <a:endParaRPr lang="en-US" dirty="0">
              <a:latin typeface="Times New Roman"/>
              <a:cs typeface="Times New Roman"/>
            </a:endParaRPr>
          </a:p>
          <a:p>
            <a:r>
              <a:rPr lang="en-US" dirty="0">
                <a:latin typeface="Times New Roman"/>
                <a:ea typeface="+mn-lt"/>
                <a:cs typeface="+mn-lt"/>
              </a:rPr>
              <a:t>Client-Server Architecture</a:t>
            </a:r>
            <a:endParaRPr lang="en-US" dirty="0">
              <a:latin typeface="Times New Roman"/>
              <a:cs typeface="Times New Roman"/>
            </a:endParaRPr>
          </a:p>
          <a:p>
            <a:r>
              <a:rPr lang="en-US" dirty="0">
                <a:latin typeface="Times New Roman"/>
                <a:ea typeface="+mn-lt"/>
                <a:cs typeface="+mn-lt"/>
              </a:rPr>
              <a:t>Microservices Architecture</a:t>
            </a:r>
            <a:endParaRPr lang="en-US" dirty="0">
              <a:latin typeface="Times New Roman"/>
              <a:cs typeface="Times New Roman"/>
            </a:endParaRPr>
          </a:p>
          <a:p>
            <a:r>
              <a:rPr lang="en-US" dirty="0">
                <a:latin typeface="Times New Roman"/>
                <a:ea typeface="+mn-lt"/>
                <a:cs typeface="+mn-lt"/>
              </a:rPr>
              <a:t>Event-Driven Architecture</a:t>
            </a:r>
            <a:endParaRPr lang="en-US" dirty="0">
              <a:latin typeface="Times New Roman"/>
              <a:cs typeface="Times New Roman"/>
            </a:endParaRPr>
          </a:p>
          <a:p>
            <a:r>
              <a:rPr lang="en-US" dirty="0">
                <a:latin typeface="Times New Roman"/>
                <a:ea typeface="+mn-lt"/>
                <a:cs typeface="+mn-lt"/>
              </a:rPr>
              <a:t>MVC (Model-View-Controller)</a:t>
            </a:r>
            <a:endParaRPr lang="en-US" dirty="0">
              <a:latin typeface="Times New Roman"/>
              <a:cs typeface="Times New Roman"/>
            </a:endParaRPr>
          </a:p>
          <a:p>
            <a:r>
              <a:rPr lang="en-US" dirty="0">
                <a:latin typeface="Times New Roman"/>
                <a:ea typeface="+mn-lt"/>
                <a:cs typeface="+mn-lt"/>
              </a:rPr>
              <a:t>SOA (Service-Oriented Architecture)</a:t>
            </a:r>
            <a:endParaRPr lang="en-US" dirty="0">
              <a:latin typeface="Times New Roman"/>
              <a:cs typeface="Times New Roman"/>
            </a:endParaRPr>
          </a:p>
          <a:p>
            <a:r>
              <a:rPr lang="en-US" dirty="0">
                <a:latin typeface="Times New Roman"/>
                <a:ea typeface="+mn-lt"/>
                <a:cs typeface="+mn-lt"/>
              </a:rPr>
              <a:t>Peer-to-Peer (P2P) Architecture</a:t>
            </a:r>
            <a:endParaRPr lang="en-US" dirty="0">
              <a:latin typeface="Times New Roman"/>
              <a:cs typeface="Times New Roman"/>
            </a:endParaRPr>
          </a:p>
          <a:p>
            <a:r>
              <a:rPr lang="en-US" dirty="0">
                <a:latin typeface="Times New Roman"/>
                <a:ea typeface="+mn-lt"/>
                <a:cs typeface="+mn-lt"/>
              </a:rPr>
              <a:t>Pipe-and-Filter Architecture</a:t>
            </a:r>
            <a:endParaRPr lang="en-US" dirty="0">
              <a:latin typeface="Times New Roman"/>
              <a:cs typeface="Times New Roman"/>
            </a:endParaRPr>
          </a:p>
          <a:p>
            <a:r>
              <a:rPr lang="en-US" dirty="0">
                <a:latin typeface="Times New Roman"/>
                <a:ea typeface="+mn-lt"/>
                <a:cs typeface="+mn-lt"/>
              </a:rPr>
              <a:t>Broker Architecture</a:t>
            </a:r>
            <a:endParaRPr lang="en-US" dirty="0">
              <a:latin typeface="Times New Roman"/>
              <a:cs typeface="Times New Roman"/>
            </a:endParaRPr>
          </a:p>
          <a:p>
            <a:r>
              <a:rPr lang="en-US" dirty="0">
                <a:latin typeface="Times New Roman"/>
                <a:ea typeface="+mn-lt"/>
                <a:cs typeface="+mn-lt"/>
              </a:rPr>
              <a:t>Component-Based Architecture</a:t>
            </a:r>
            <a:endParaRPr lang="en-US" dirty="0">
              <a:latin typeface="Times New Roman"/>
              <a:cs typeface="Times New Roman"/>
            </a:endParaRPr>
          </a:p>
          <a:p>
            <a:endParaRPr lang="en-US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5789037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push dir="u"/>
      </p:transition>
    </mc:Choice>
    <mc:Fallback xmlns="">
      <p:transition spd="slow">
        <p:push dir="u"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F6CA00-AFE3-337E-6ECF-433562A124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/>
                <a:ea typeface="+mj-lt"/>
                <a:cs typeface="+mj-lt"/>
              </a:rPr>
              <a:t>Selected Style: Layered Architecture</a:t>
            </a:r>
            <a:endParaRPr lang="en-US" b="1" dirty="0">
              <a:latin typeface="Times New Roman"/>
              <a:cs typeface="Times New Roman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B23D5E-A4A1-7DA8-D4C2-008C8FEF11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10000"/>
          </a:bodyPr>
          <a:lstStyle/>
          <a:p>
            <a:r>
              <a:rPr lang="en-US" b="1">
                <a:ea typeface="+mn-lt"/>
                <a:cs typeface="+mn-lt"/>
              </a:rPr>
              <a:t>Presentation Layer</a:t>
            </a:r>
            <a:endParaRPr lang="en-US">
              <a:ea typeface="+mn-lt"/>
              <a:cs typeface="+mn-lt"/>
            </a:endParaRPr>
          </a:p>
          <a:p>
            <a:pPr lvl="1"/>
            <a:r>
              <a:rPr lang="en-US" sz="2800" dirty="0">
                <a:ea typeface="+mn-lt"/>
                <a:cs typeface="+mn-lt"/>
              </a:rPr>
              <a:t>What it does: Shows information to users (doctors, staff, patients)</a:t>
            </a:r>
            <a:endParaRPr lang="en-US" dirty="0"/>
          </a:p>
          <a:p>
            <a:pPr lvl="1"/>
            <a:r>
              <a:rPr lang="en-US" sz="2800" dirty="0">
                <a:ea typeface="+mn-lt"/>
                <a:cs typeface="+mn-lt"/>
              </a:rPr>
              <a:t>Examples: Patient registration screens, appointment booking UI, dashboard</a:t>
            </a:r>
            <a:endParaRPr lang="en-US" dirty="0"/>
          </a:p>
          <a:p>
            <a:r>
              <a:rPr lang="en-US" b="1" dirty="0">
                <a:ea typeface="+mn-lt"/>
                <a:cs typeface="+mn-lt"/>
              </a:rPr>
              <a:t>Business Logic Layer (or Application Layer)</a:t>
            </a:r>
            <a:endParaRPr lang="en-US" dirty="0"/>
          </a:p>
          <a:p>
            <a:pPr lvl="1"/>
            <a:r>
              <a:rPr lang="en-US" sz="2800" dirty="0">
                <a:ea typeface="+mn-lt"/>
                <a:cs typeface="+mn-lt"/>
              </a:rPr>
              <a:t>What it does: Handles all the rules and operations of the system</a:t>
            </a:r>
            <a:endParaRPr lang="en-US" dirty="0"/>
          </a:p>
          <a:p>
            <a:pPr lvl="1"/>
            <a:r>
              <a:rPr lang="en-US" sz="2800" dirty="0">
                <a:ea typeface="+mn-lt"/>
                <a:cs typeface="+mn-lt"/>
              </a:rPr>
              <a:t>Examples: Scheduling appointments, calculating bills, managing doctor availability</a:t>
            </a:r>
            <a:endParaRPr lang="en-US" dirty="0"/>
          </a:p>
          <a:p>
            <a:r>
              <a:rPr lang="en-US" b="1" dirty="0">
                <a:ea typeface="+mn-lt"/>
                <a:cs typeface="+mn-lt"/>
              </a:rPr>
              <a:t>Data Layer (or Database Layer)</a:t>
            </a:r>
            <a:endParaRPr lang="en-US" dirty="0"/>
          </a:p>
          <a:p>
            <a:pPr lvl="1"/>
            <a:r>
              <a:rPr lang="en-US" sz="2800" dirty="0">
                <a:ea typeface="+mn-lt"/>
                <a:cs typeface="+mn-lt"/>
              </a:rPr>
              <a:t>What it does: Stores and manages all the hospital data</a:t>
            </a:r>
            <a:endParaRPr lang="en-US" dirty="0"/>
          </a:p>
          <a:p>
            <a:pPr lvl="1"/>
            <a:r>
              <a:rPr lang="en-US" sz="2800" dirty="0">
                <a:ea typeface="+mn-lt"/>
                <a:cs typeface="+mn-lt"/>
              </a:rPr>
              <a:t>Examples: Patient records, billing info, pharmacy inventory</a:t>
            </a:r>
            <a:endParaRPr lang="en-US" dirty="0"/>
          </a:p>
          <a:p>
            <a:endParaRPr lang="en-US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630927571"/>
      </p:ext>
    </p:extLst>
  </p:cSld>
  <p:clrMapOvr>
    <a:masterClrMapping/>
  </p:clrMapOvr>
  <p:transition spd="slow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 t="-3000" b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7A8912-FD5E-D8FE-5995-6246D5D1B8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/>
                <a:ea typeface="+mj-lt"/>
                <a:cs typeface="+mj-lt"/>
              </a:rPr>
              <a:t>Why Layered Architecture?</a:t>
            </a:r>
            <a:endParaRPr lang="en-US" b="1" dirty="0">
              <a:latin typeface="Times New Roman"/>
              <a:cs typeface="Times New Roman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080372-520B-D1E5-BC5C-0D6F8B4EF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2940" y="1898693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b="1" dirty="0">
                <a:latin typeface="Times New Roman"/>
                <a:cs typeface="Times New Roman"/>
              </a:rPr>
              <a:t>Benefits:</a:t>
            </a:r>
          </a:p>
          <a:p>
            <a:r>
              <a:rPr lang="en-US" b="1" dirty="0">
                <a:latin typeface="Times New Roman"/>
                <a:cs typeface="Times New Roman"/>
              </a:rPr>
              <a:t>Separation</a:t>
            </a:r>
            <a:r>
              <a:rPr lang="en-US" b="1" dirty="0">
                <a:latin typeface="Times New Roman"/>
                <a:ea typeface="+mn-lt"/>
                <a:cs typeface="+mn-lt"/>
              </a:rPr>
              <a:t> of Concerns: </a:t>
            </a:r>
            <a:r>
              <a:rPr lang="en-US" dirty="0">
                <a:latin typeface="Times New Roman"/>
                <a:ea typeface="+mn-lt"/>
                <a:cs typeface="+mn-lt"/>
              </a:rPr>
              <a:t>Each layer does its own job (UI shows info, logic schedules, data stores records)</a:t>
            </a:r>
            <a:endParaRPr lang="en-US" dirty="0">
              <a:latin typeface="Times New Roman"/>
              <a:cs typeface="Times New Roman"/>
            </a:endParaRPr>
          </a:p>
          <a:p>
            <a:r>
              <a:rPr lang="en-US" b="1" dirty="0">
                <a:latin typeface="Times New Roman"/>
                <a:ea typeface="+mn-lt"/>
                <a:cs typeface="+mn-lt"/>
              </a:rPr>
              <a:t>Easy Maintenance:</a:t>
            </a:r>
            <a:r>
              <a:rPr lang="en-US" dirty="0">
                <a:latin typeface="Times New Roman"/>
                <a:ea typeface="+mn-lt"/>
                <a:cs typeface="+mn-lt"/>
              </a:rPr>
              <a:t> Fix or update one part without affecting others</a:t>
            </a:r>
            <a:endParaRPr lang="en-US" dirty="0">
              <a:latin typeface="Times New Roman"/>
              <a:cs typeface="Times New Roman"/>
            </a:endParaRPr>
          </a:p>
          <a:p>
            <a:r>
              <a:rPr lang="en-US" b="1" dirty="0">
                <a:latin typeface="Times New Roman"/>
                <a:ea typeface="+mn-lt"/>
                <a:cs typeface="+mn-lt"/>
              </a:rPr>
              <a:t>Scalable:</a:t>
            </a:r>
            <a:r>
              <a:rPr lang="en-US" dirty="0">
                <a:latin typeface="Times New Roman"/>
                <a:ea typeface="+mn-lt"/>
                <a:cs typeface="+mn-lt"/>
              </a:rPr>
              <a:t> Can add new features or improve existing modules later</a:t>
            </a:r>
            <a:endParaRPr lang="en-US" dirty="0">
              <a:latin typeface="Times New Roman"/>
              <a:cs typeface="Times New Roman"/>
            </a:endParaRPr>
          </a:p>
          <a:p>
            <a:r>
              <a:rPr lang="en-US" b="1" dirty="0">
                <a:latin typeface="Times New Roman"/>
                <a:ea typeface="+mn-lt"/>
                <a:cs typeface="+mn-lt"/>
              </a:rPr>
              <a:t>Testable &amp; Reusable:</a:t>
            </a:r>
            <a:r>
              <a:rPr lang="en-US" dirty="0">
                <a:latin typeface="Times New Roman"/>
                <a:ea typeface="+mn-lt"/>
                <a:cs typeface="+mn-lt"/>
              </a:rPr>
              <a:t> Can test parts separately; some parts can be used again</a:t>
            </a:r>
            <a:endParaRPr lang="en-US" dirty="0">
              <a:latin typeface="Times New Roman"/>
              <a:cs typeface="Times New Roman"/>
            </a:endParaRPr>
          </a:p>
          <a:p>
            <a:r>
              <a:rPr lang="en-US" b="1" dirty="0">
                <a:latin typeface="Times New Roman"/>
                <a:cs typeface="Times New Roman"/>
              </a:rPr>
              <a:t>Security:</a:t>
            </a:r>
            <a:r>
              <a:rPr lang="en-US" dirty="0">
                <a:latin typeface="Times New Roman"/>
                <a:cs typeface="Times New Roman"/>
              </a:rPr>
              <a:t> Security controls can be applied to each </a:t>
            </a:r>
            <a:r>
              <a:rPr lang="en-US" dirty="0" err="1">
                <a:latin typeface="Times New Roman"/>
                <a:cs typeface="Times New Roman"/>
              </a:rPr>
              <a:t>layer,preventing</a:t>
            </a:r>
            <a:r>
              <a:rPr lang="en-US" dirty="0">
                <a:latin typeface="Times New Roman"/>
                <a:cs typeface="Times New Roman"/>
              </a:rPr>
              <a:t> unauthorized access to sensitive data</a:t>
            </a:r>
            <a:endParaRPr lang="en-US" sz="1200" dirty="0">
              <a:solidFill>
                <a:srgbClr val="E6E8F0"/>
              </a:solidFill>
              <a:highlight>
                <a:srgbClr val="1F1F1F"/>
              </a:highlight>
              <a:latin typeface="Aptos"/>
              <a:cs typeface="Times New Roman"/>
            </a:endParaRPr>
          </a:p>
          <a:p>
            <a:endParaRPr lang="en-US" dirty="0">
              <a:solidFill>
                <a:srgbClr val="000000"/>
              </a:solidFill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1684647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BE0A10-3A75-142C-93EC-602E881432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Times New Roman"/>
                <a:cs typeface="Times New Roman"/>
              </a:rPr>
              <a:t>Why not other styles?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C0C493-3EEB-57D8-9119-9AC794C579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r>
              <a:rPr lang="en-US" sz="3200" dirty="0">
                <a:latin typeface="Times New Roman"/>
                <a:ea typeface="+mn-lt"/>
                <a:cs typeface="+mn-lt"/>
              </a:rPr>
              <a:t>Client-Server Architecture</a:t>
            </a:r>
            <a:endParaRPr lang="en-US" sz="3200">
              <a:latin typeface="Times New Roman"/>
              <a:cs typeface="Times New Roman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E2B6C5-CB98-040E-77B4-245F62549D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745157"/>
            <a:ext cx="5157787" cy="368458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200" dirty="0">
                <a:latin typeface="Times New Roman"/>
                <a:ea typeface="+mn-lt"/>
                <a:cs typeface="+mn-lt"/>
              </a:rPr>
              <a:t>Only handles server-client communication.</a:t>
            </a:r>
            <a:endParaRPr lang="en-US" sz="3200">
              <a:latin typeface="Times New Roman"/>
              <a:cs typeface="Times New Roman"/>
            </a:endParaRPr>
          </a:p>
          <a:p>
            <a:r>
              <a:rPr lang="en-US" sz="3200" dirty="0">
                <a:latin typeface="Times New Roman"/>
                <a:ea typeface="+mn-lt"/>
                <a:cs typeface="+mn-lt"/>
              </a:rPr>
              <a:t>HMS needs organized internal layers, not just client-server.</a:t>
            </a:r>
            <a:endParaRPr lang="en-US" sz="3200">
              <a:latin typeface="Times New Roman"/>
              <a:cs typeface="Times New Roman"/>
            </a:endParaRPr>
          </a:p>
          <a:p>
            <a:endParaRPr lang="en-US" sz="3200" dirty="0">
              <a:latin typeface="Times New Roman"/>
              <a:cs typeface="Times New Roman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B1FC6DC-CB26-9EA4-D600-985F25EAAE3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latin typeface="Times New Roman"/>
                <a:ea typeface="+mn-lt"/>
                <a:cs typeface="+mn-lt"/>
              </a:rPr>
              <a:t>Microservices Architecture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32939C5-3121-1F80-6389-DAC45E34879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745157"/>
            <a:ext cx="5183188" cy="368458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200" dirty="0">
                <a:latin typeface="Times New Roman"/>
                <a:ea typeface="+mn-lt"/>
                <a:cs typeface="+mn-lt"/>
              </a:rPr>
              <a:t>Splits system into many small services.</a:t>
            </a:r>
            <a:endParaRPr lang="en-US" sz="3200">
              <a:latin typeface="Times New Roman"/>
              <a:cs typeface="Times New Roman"/>
            </a:endParaRPr>
          </a:p>
          <a:p>
            <a:r>
              <a:rPr lang="en-US" sz="3200" dirty="0">
                <a:latin typeface="Times New Roman"/>
                <a:ea typeface="+mn-lt"/>
                <a:cs typeface="+mn-lt"/>
              </a:rPr>
              <a:t>For HMS, managing many services is complex and unnecessary.</a:t>
            </a:r>
            <a:endParaRPr lang="en-US" sz="3200">
              <a:latin typeface="Times New Roman"/>
              <a:cs typeface="Times New Roman"/>
            </a:endParaRPr>
          </a:p>
          <a:p>
            <a:endParaRPr lang="en-US" sz="32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0720315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 t="-3000" b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EDC609-65C2-72D5-6120-9CEBD0A4524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23378" y="677406"/>
            <a:ext cx="5233791" cy="579183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3200" b="1" dirty="0">
                <a:latin typeface="Times New Roman"/>
                <a:ea typeface="+mn-lt"/>
                <a:cs typeface="+mn-lt"/>
              </a:rPr>
              <a:t>Event-Driven Architecture</a:t>
            </a:r>
          </a:p>
          <a:p>
            <a:pPr>
              <a:buFont typeface="Arial"/>
              <a:buChar char="•"/>
            </a:pPr>
            <a:r>
              <a:rPr lang="en-US" sz="3200" dirty="0">
                <a:latin typeface="Times New Roman"/>
                <a:ea typeface="+mn-lt"/>
                <a:cs typeface="+mn-lt"/>
              </a:rPr>
              <a:t>Best for real-time, continuous events (like stock updates or sensors).</a:t>
            </a:r>
            <a:endParaRPr lang="en-US" sz="3200" dirty="0">
              <a:latin typeface="Times New Roman"/>
              <a:cs typeface="Times New Roman"/>
            </a:endParaRPr>
          </a:p>
          <a:p>
            <a:pPr>
              <a:buFont typeface="Arial"/>
              <a:buChar char="•"/>
            </a:pPr>
            <a:r>
              <a:rPr lang="en-US" sz="3200" dirty="0">
                <a:latin typeface="Times New Roman"/>
                <a:ea typeface="+mn-lt"/>
                <a:cs typeface="+mn-lt"/>
              </a:rPr>
              <a:t>HMS mainly has appointments, billing, and records.</a:t>
            </a:r>
            <a:endParaRPr lang="en-US" sz="3200">
              <a:latin typeface="Times New Roman"/>
              <a:cs typeface="Times New Roman"/>
            </a:endParaRPr>
          </a:p>
          <a:p>
            <a:pPr>
              <a:buFont typeface="Arial"/>
              <a:buChar char="•"/>
            </a:pPr>
            <a:r>
              <a:rPr lang="en-US" sz="3200" dirty="0">
                <a:latin typeface="Times New Roman"/>
                <a:ea typeface="+mn-lt"/>
                <a:cs typeface="+mn-lt"/>
              </a:rPr>
              <a:t>No constant events that need instant reactions.</a:t>
            </a:r>
            <a:endParaRPr lang="en-US" sz="3200">
              <a:latin typeface="Times New Roman"/>
              <a:cs typeface="Times New Roman"/>
            </a:endParaRPr>
          </a:p>
          <a:p>
            <a:pPr marL="0" indent="0">
              <a:buNone/>
            </a:pPr>
            <a:endParaRPr lang="en-US" sz="3200" b="1" dirty="0">
              <a:latin typeface="Times New Roman"/>
              <a:cs typeface="Times New Roman"/>
            </a:endParaRPr>
          </a:p>
          <a:p>
            <a:pPr marL="0" indent="0">
              <a:buNone/>
            </a:pPr>
            <a:endParaRPr lang="en-US" sz="3200" b="1" dirty="0">
              <a:latin typeface="Times New Roman"/>
              <a:cs typeface="Times New Roman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F8C86B-BE00-3AB3-DF61-6CEF7221C6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9132" y="677406"/>
            <a:ext cx="5964476" cy="4810625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3200" b="1" dirty="0">
                <a:latin typeface="Times New Roman"/>
                <a:ea typeface="+mn-lt"/>
                <a:cs typeface="+mn-lt"/>
              </a:rPr>
              <a:t>MVC (Model-View-Controller)</a:t>
            </a:r>
            <a:endParaRPr lang="en-US" sz="3200" b="1" dirty="0">
              <a:latin typeface="Times New Roman"/>
              <a:ea typeface="+mn-lt"/>
              <a:cs typeface="Times New Roman"/>
            </a:endParaRPr>
          </a:p>
          <a:p>
            <a:pPr>
              <a:buFont typeface="Arial"/>
              <a:buChar char="•"/>
            </a:pPr>
            <a:r>
              <a:rPr lang="en-US" sz="3200" dirty="0">
                <a:ea typeface="+mn-lt"/>
                <a:cs typeface="+mn-lt"/>
              </a:rPr>
              <a:t>Only structures the user interface.</a:t>
            </a:r>
            <a:endParaRPr lang="en-US" dirty="0"/>
          </a:p>
          <a:p>
            <a:pPr>
              <a:buFont typeface="Arial"/>
              <a:buChar char="•"/>
            </a:pPr>
            <a:r>
              <a:rPr lang="en-US" sz="3200" dirty="0">
                <a:ea typeface="+mn-lt"/>
                <a:cs typeface="+mn-lt"/>
              </a:rPr>
              <a:t>Cannot organize the full hospital system.</a:t>
            </a:r>
            <a:endParaRPr lang="en-US" dirty="0"/>
          </a:p>
          <a:p>
            <a:pPr>
              <a:buFont typeface="Arial"/>
              <a:buChar char="•"/>
            </a:pPr>
            <a:r>
              <a:rPr lang="en-US" sz="3200" dirty="0">
                <a:ea typeface="+mn-lt"/>
                <a:cs typeface="+mn-lt"/>
              </a:rPr>
              <a:t>Does not separate business logic or data management</a:t>
            </a:r>
            <a:endParaRPr lang="en-US" dirty="0"/>
          </a:p>
          <a:p>
            <a:pPr marL="0" indent="0">
              <a:buNone/>
            </a:pPr>
            <a:endParaRPr lang="en-US" sz="3200" b="1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4854971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D6F1F7-FA22-97C5-78A4-61C8CA1753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72858" y="416447"/>
            <a:ext cx="5452996" cy="5186406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endParaRPr lang="en-US" sz="3200" dirty="0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sz="3200" b="1" dirty="0">
                <a:ea typeface="+mn-lt"/>
                <a:cs typeface="+mn-lt"/>
              </a:rPr>
              <a:t>Service-Oriented Architecture(SOA)</a:t>
            </a:r>
            <a:endParaRPr lang="en-US" sz="3200" dirty="0">
              <a:latin typeface="Aptos"/>
              <a:ea typeface="+mn-lt"/>
              <a:cs typeface="Times New Roman"/>
            </a:endParaRPr>
          </a:p>
          <a:p>
            <a:pPr marL="0" indent="0">
              <a:buNone/>
            </a:pPr>
            <a:r>
              <a:rPr lang="en-US" sz="3200" dirty="0">
                <a:ea typeface="+mn-lt"/>
                <a:cs typeface="+mn-lt"/>
              </a:rPr>
              <a:t>Requires extra messaging between services.</a:t>
            </a:r>
            <a:endParaRPr lang="en-US" sz="3200" b="1" dirty="0">
              <a:latin typeface="Times New Roman"/>
              <a:cs typeface="Times New Roman"/>
            </a:endParaRPr>
          </a:p>
          <a:p>
            <a:r>
              <a:rPr lang="en-US" sz="3200" dirty="0">
                <a:ea typeface="+mn-lt"/>
                <a:cs typeface="+mn-lt"/>
              </a:rPr>
              <a:t>Adds overhead that HMS doesn’t need.</a:t>
            </a:r>
            <a:endParaRPr lang="en-US" sz="3200"/>
          </a:p>
          <a:p>
            <a:r>
              <a:rPr lang="en-US" sz="3200" dirty="0">
                <a:ea typeface="+mn-lt"/>
                <a:cs typeface="+mn-lt"/>
              </a:rPr>
              <a:t>Centralized hospital system works efficiently without it.</a:t>
            </a:r>
            <a:endParaRPr lang="en-US" sz="3200"/>
          </a:p>
          <a:p>
            <a:endParaRPr lang="en-US" sz="3200" b="1" dirty="0">
              <a:latin typeface="Times New Roman"/>
              <a:cs typeface="Times New Roman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1A33EC-4A2D-A1CC-64E4-E42FDB4B00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28775" y="948803"/>
            <a:ext cx="5181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200" b="1" dirty="0">
                <a:latin typeface="Times New Roman"/>
                <a:ea typeface="+mn-lt"/>
                <a:cs typeface="+mn-lt"/>
              </a:rPr>
              <a:t>Peer-to-Peer (P2P)</a:t>
            </a:r>
            <a:endParaRPr lang="en-US" sz="3200" dirty="0">
              <a:latin typeface="Times New Roman"/>
              <a:cs typeface="Times New Roman"/>
            </a:endParaRPr>
          </a:p>
          <a:p>
            <a:r>
              <a:rPr lang="en-US" sz="3200" dirty="0">
                <a:latin typeface="Times New Roman"/>
                <a:ea typeface="+mn-lt"/>
                <a:cs typeface="+mn-lt"/>
              </a:rPr>
              <a:t>Decentralized system with no central database.</a:t>
            </a:r>
            <a:endParaRPr lang="en-US" sz="3200" dirty="0">
              <a:latin typeface="Times New Roman"/>
              <a:cs typeface="Times New Roman"/>
            </a:endParaRPr>
          </a:p>
          <a:p>
            <a:r>
              <a:rPr lang="en-US" sz="3200" dirty="0">
                <a:latin typeface="Times New Roman"/>
                <a:ea typeface="+mn-lt"/>
                <a:cs typeface="+mn-lt"/>
              </a:rPr>
              <a:t>HMS needs central storage for patient records and billing.</a:t>
            </a:r>
            <a:endParaRPr lang="en-US" sz="3200" dirty="0">
              <a:latin typeface="Times New Roman"/>
              <a:cs typeface="Times New Roman"/>
            </a:endParaRPr>
          </a:p>
          <a:p>
            <a:r>
              <a:rPr lang="en-US" sz="3200" dirty="0">
                <a:latin typeface="Times New Roman"/>
                <a:ea typeface="+mn-lt"/>
                <a:cs typeface="+mn-lt"/>
              </a:rPr>
              <a:t>Hard to maintain consistency across hospital modules.</a:t>
            </a:r>
            <a:endParaRPr lang="en-US" sz="3200" dirty="0">
              <a:latin typeface="Times New Roman"/>
              <a:cs typeface="Times New Roman"/>
            </a:endParaRPr>
          </a:p>
          <a:p>
            <a:endParaRPr lang="en-US" sz="32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5350245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 t="-2000" b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1F7FE5-BFFC-5148-2DC4-0442A6AED6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741711"/>
            <a:ext cx="5157787" cy="823912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Times New Roman"/>
                <a:ea typeface="+mn-lt"/>
                <a:cs typeface="+mn-lt"/>
              </a:rPr>
              <a:t>Pipe&amp; Filter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2C936B-129C-1062-DF35-58F48F1B34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35404" y="1711760"/>
            <a:ext cx="5157787" cy="368458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200" dirty="0">
                <a:latin typeface="Times New Roman"/>
                <a:ea typeface="+mn-lt"/>
                <a:cs typeface="+mn-lt"/>
              </a:rPr>
              <a:t>Designed for continuous data processing.</a:t>
            </a:r>
            <a:endParaRPr lang="en-US" sz="3200">
              <a:latin typeface="Times New Roman"/>
              <a:cs typeface="Times New Roman"/>
            </a:endParaRPr>
          </a:p>
          <a:p>
            <a:r>
              <a:rPr lang="en-US" sz="3200">
                <a:latin typeface="Times New Roman"/>
                <a:ea typeface="+mn-lt"/>
                <a:cs typeface="+mn-lt"/>
              </a:rPr>
              <a:t>HMS mostly performs CRUD operations.</a:t>
            </a:r>
            <a:endParaRPr lang="en-US" sz="3200">
              <a:latin typeface="Times New Roman"/>
              <a:cs typeface="Times New Roman"/>
            </a:endParaRPr>
          </a:p>
          <a:p>
            <a:r>
              <a:rPr lang="en-US" sz="3200" dirty="0">
                <a:latin typeface="Times New Roman"/>
                <a:ea typeface="+mn-lt"/>
                <a:cs typeface="+mn-lt"/>
              </a:rPr>
              <a:t>Not suitable for appointments, billing, and patient management.</a:t>
            </a:r>
            <a:endParaRPr lang="en-US" sz="3200">
              <a:latin typeface="Times New Roman"/>
              <a:cs typeface="Times New Roman"/>
            </a:endParaRPr>
          </a:p>
          <a:p>
            <a:endParaRPr lang="en-US" sz="3200" dirty="0">
              <a:latin typeface="Times New Roman"/>
              <a:cs typeface="Times New Roman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D68CDD7-704B-41C9-9B8A-36B5BD39ED9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741711"/>
            <a:ext cx="5183188" cy="823912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Times New Roman"/>
                <a:cs typeface="Times New Roman"/>
              </a:rPr>
              <a:t>Broker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E09DF46-1979-1656-8341-A9A8D43FEDD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099132" y="1805705"/>
            <a:ext cx="5183188" cy="368458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200" dirty="0">
                <a:latin typeface="Times New Roman"/>
                <a:ea typeface="+mn-lt"/>
                <a:cs typeface="+mn-lt"/>
              </a:rPr>
              <a:t>Uses middleware to manage distributed modules.</a:t>
            </a:r>
            <a:endParaRPr lang="en-US" sz="3200" dirty="0">
              <a:latin typeface="Times New Roman"/>
              <a:cs typeface="Times New Roman"/>
            </a:endParaRPr>
          </a:p>
          <a:p>
            <a:r>
              <a:rPr lang="en-US" sz="3200">
                <a:latin typeface="Times New Roman"/>
                <a:ea typeface="+mn-lt"/>
                <a:cs typeface="+mn-lt"/>
              </a:rPr>
              <a:t>HMS modules don’t require broker communication.</a:t>
            </a:r>
            <a:endParaRPr lang="en-US" sz="3200" dirty="0">
              <a:latin typeface="Times New Roman"/>
              <a:cs typeface="Times New Roman"/>
            </a:endParaRPr>
          </a:p>
          <a:p>
            <a:r>
              <a:rPr lang="en-US" sz="3200" dirty="0">
                <a:latin typeface="Times New Roman"/>
                <a:ea typeface="+mn-lt"/>
                <a:cs typeface="+mn-lt"/>
              </a:rPr>
              <a:t>Centralized control is simpler and more efficient.</a:t>
            </a:r>
            <a:endParaRPr lang="en-US" sz="3200" dirty="0">
              <a:latin typeface="Times New Roman"/>
              <a:cs typeface="Times New Roman"/>
            </a:endParaRPr>
          </a:p>
          <a:p>
            <a:endParaRPr lang="en-US" sz="32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3603409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18EB46DF-484E-8C62-6B83-7534773168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4063" y="897481"/>
            <a:ext cx="10515600" cy="1325563"/>
          </a:xfrm>
        </p:spPr>
        <p:txBody>
          <a:bodyPr/>
          <a:lstStyle/>
          <a:p>
            <a:r>
              <a:rPr lang="en-US" b="1" dirty="0"/>
              <a:t>           Component based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63BC74-FF67-9F70-871D-DE5DFB2B83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45296" y="2044830"/>
            <a:ext cx="10515600" cy="4351338"/>
          </a:xfrm>
        </p:spPr>
        <p:txBody>
          <a:bodyPr vert="horz" lIns="91440" tIns="45720" rIns="91440" bIns="45720" rtlCol="0" anchor="t">
            <a:normAutofit fontScale="70000" lnSpcReduction="20000"/>
          </a:bodyPr>
          <a:lstStyle/>
          <a:p>
            <a:pPr marL="0" indent="0">
              <a:buNone/>
            </a:pPr>
            <a:endParaRPr lang="en-US" sz="3200" b="1" dirty="0">
              <a:latin typeface="Times New Roman"/>
              <a:cs typeface="Times New Roman"/>
            </a:endParaRPr>
          </a:p>
          <a:p>
            <a:pPr lvl="1"/>
            <a:r>
              <a:rPr lang="en-US" sz="2800" dirty="0">
                <a:latin typeface="Times New Roman"/>
                <a:ea typeface="+mn-lt"/>
                <a:cs typeface="+mn-lt"/>
              </a:rPr>
              <a:t>Focuses on reusable components only.</a:t>
            </a:r>
            <a:endParaRPr lang="en-US" sz="2800" dirty="0">
              <a:latin typeface="Times New Roman"/>
              <a:cs typeface="Times New Roman"/>
            </a:endParaRPr>
          </a:p>
          <a:p>
            <a:pPr lvl="1"/>
            <a:r>
              <a:rPr lang="en-US" sz="2800" dirty="0">
                <a:latin typeface="Times New Roman"/>
                <a:ea typeface="+mn-lt"/>
                <a:cs typeface="+mn-lt"/>
              </a:rPr>
              <a:t>Hospital management system needs a clear layered structure for different hospital functions.</a:t>
            </a:r>
            <a:endParaRPr lang="en-US" sz="2800" dirty="0">
              <a:latin typeface="Times New Roman"/>
              <a:cs typeface="Times New Roman"/>
            </a:endParaRPr>
          </a:p>
          <a:p>
            <a:pPr lvl="1"/>
            <a:r>
              <a:rPr lang="en-US" sz="2800" dirty="0">
                <a:latin typeface="Times New Roman"/>
                <a:ea typeface="+mn-lt"/>
                <a:cs typeface="+mn-lt"/>
              </a:rPr>
              <a:t>Components alone won’t organize the system effectively.</a:t>
            </a:r>
          </a:p>
          <a:p>
            <a:pPr marL="457200" lvl="1" indent="0" algn="ctr">
              <a:buNone/>
            </a:pPr>
            <a:r>
              <a:rPr lang="en-US" sz="4000" b="1" dirty="0">
                <a:latin typeface="Times New Roman"/>
                <a:ea typeface="+mn-lt"/>
                <a:cs typeface="+mn-lt"/>
              </a:rPr>
              <a:t>Final verdict</a:t>
            </a:r>
            <a:endParaRPr lang="en-US" sz="2800" b="1" dirty="0">
              <a:latin typeface="Times New Roman"/>
              <a:ea typeface="+mn-lt"/>
              <a:cs typeface="+mn-lt"/>
            </a:endParaRPr>
          </a:p>
          <a:p>
            <a:r>
              <a:rPr lang="en-US" dirty="0">
                <a:latin typeface="Times New Roman"/>
                <a:ea typeface="+mn-lt"/>
                <a:cs typeface="+mn-lt"/>
              </a:rPr>
              <a:t>Layered Architecture is the most suitable choice for our </a:t>
            </a:r>
            <a:r>
              <a:rPr lang="en-US" b="1" dirty="0">
                <a:latin typeface="Times New Roman"/>
                <a:ea typeface="+mn-lt"/>
                <a:cs typeface="+mn-lt"/>
              </a:rPr>
              <a:t>Hospital Management System</a:t>
            </a:r>
            <a:r>
              <a:rPr lang="en-US" dirty="0">
                <a:latin typeface="Times New Roman"/>
                <a:ea typeface="+mn-lt"/>
                <a:cs typeface="+mn-lt"/>
              </a:rPr>
              <a:t> because it is organized, secure, and easy to manage.</a:t>
            </a:r>
            <a:endParaRPr lang="en-US" dirty="0">
              <a:latin typeface="Times New Roman"/>
              <a:cs typeface="Times New Roman"/>
            </a:endParaRPr>
          </a:p>
          <a:p>
            <a:r>
              <a:rPr lang="en-US" b="1" dirty="0">
                <a:latin typeface="Times New Roman"/>
                <a:ea typeface="+mn-lt"/>
                <a:cs typeface="+mn-lt"/>
              </a:rPr>
              <a:t>Functional Alignment:</a:t>
            </a:r>
            <a:r>
              <a:rPr lang="en-US" dirty="0">
                <a:latin typeface="Times New Roman"/>
                <a:ea typeface="+mn-lt"/>
                <a:cs typeface="+mn-lt"/>
              </a:rPr>
              <a:t> It successfully supports all our core modules like </a:t>
            </a:r>
            <a:r>
              <a:rPr lang="en-US" b="1" dirty="0">
                <a:latin typeface="Times New Roman"/>
                <a:ea typeface="+mn-lt"/>
                <a:cs typeface="+mn-lt"/>
              </a:rPr>
              <a:t>Patient Registration, Appointment Scheduling, and Billing</a:t>
            </a:r>
            <a:r>
              <a:rPr lang="en-US" dirty="0">
                <a:latin typeface="Times New Roman"/>
                <a:ea typeface="+mn-lt"/>
                <a:cs typeface="+mn-lt"/>
              </a:rPr>
              <a:t> by organizing them into specific layers.</a:t>
            </a:r>
            <a:endParaRPr lang="en-US" dirty="0">
              <a:latin typeface="Times New Roman"/>
              <a:ea typeface="+mn-lt"/>
              <a:cs typeface="Times New Roman"/>
            </a:endParaRPr>
          </a:p>
          <a:p>
            <a:r>
              <a:rPr lang="en-US" b="1" dirty="0">
                <a:latin typeface="Times New Roman"/>
                <a:ea typeface="+mn-lt"/>
                <a:cs typeface="+mn-lt"/>
              </a:rPr>
              <a:t>Project Goals:</a:t>
            </a:r>
            <a:r>
              <a:rPr lang="en-US" dirty="0">
                <a:latin typeface="Times New Roman"/>
                <a:ea typeface="+mn-lt"/>
                <a:cs typeface="+mn-lt"/>
              </a:rPr>
              <a:t> This structure ensures the system is stable, secure, and easy to manage, which were our primary goals.</a:t>
            </a:r>
          </a:p>
          <a:p>
            <a:r>
              <a:rPr lang="en-US" b="1" dirty="0">
                <a:latin typeface="Times New Roman"/>
                <a:ea typeface="+mn-lt"/>
                <a:cs typeface="+mn-lt"/>
              </a:rPr>
              <a:t>Future Scalability:</a:t>
            </a:r>
            <a:r>
              <a:rPr lang="en-US" dirty="0">
                <a:latin typeface="Times New Roman"/>
                <a:ea typeface="+mn-lt"/>
                <a:cs typeface="+mn-lt"/>
              </a:rPr>
              <a:t> This architecture makes it very easy to add a Mobile App or an AI-based module in the future without rebuilding the whole system.</a:t>
            </a:r>
          </a:p>
          <a:p>
            <a:r>
              <a:rPr lang="en-US" dirty="0">
                <a:latin typeface="Times New Roman"/>
                <a:ea typeface="+mn-lt"/>
                <a:cs typeface="+mn-lt"/>
              </a:rPr>
              <a:t>Thankyou</a:t>
            </a:r>
          </a:p>
          <a:p>
            <a:endParaRPr lang="en-US" dirty="0">
              <a:latin typeface="Times New Roman"/>
              <a:cs typeface="Times New Roman"/>
            </a:endParaRPr>
          </a:p>
          <a:p>
            <a:endParaRPr lang="en-US" dirty="0">
              <a:latin typeface="Times New Roman"/>
              <a:cs typeface="Times New Roman"/>
            </a:endParaRPr>
          </a:p>
          <a:p>
            <a:pPr lvl="1"/>
            <a:endParaRPr lang="en-US" sz="2800" dirty="0">
              <a:latin typeface="Times New Roman"/>
              <a:cs typeface="Times New Roman"/>
            </a:endParaRPr>
          </a:p>
          <a:p>
            <a:endParaRPr lang="en-US" sz="32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4049774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259A6F9-1514-4FF5-8C8F-E129B8CD5C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558" y="300559"/>
            <a:ext cx="11519647" cy="6449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99837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E978A8-EB71-438E-81FB-9FE983F60D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3160" y="2766218"/>
            <a:ext cx="10515600" cy="1325563"/>
          </a:xfrm>
        </p:spPr>
        <p:txBody>
          <a:bodyPr/>
          <a:lstStyle/>
          <a:p>
            <a:pPr algn="ctr"/>
            <a:r>
              <a:rPr lang="en-US" sz="6000" dirty="0">
                <a:latin typeface="Bauhaus 93" panose="04030905020B02020C02" pitchFamily="82" charset="0"/>
              </a:rPr>
              <a:t>Thankyou </a:t>
            </a:r>
            <a:endParaRPr lang="en-US" dirty="0">
              <a:latin typeface="Bauhaus 93" panose="04030905020B02020C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8474119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6000">
        <p15:prstTrans prst="curtains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564</TotalTime>
  <Words>677</Words>
  <Application>Microsoft Office PowerPoint</Application>
  <PresentationFormat>Widescreen</PresentationFormat>
  <Paragraphs>94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Aptos</vt:lpstr>
      <vt:lpstr>Aptos Display</vt:lpstr>
      <vt:lpstr>Arial</vt:lpstr>
      <vt:lpstr>Bauhaus 93</vt:lpstr>
      <vt:lpstr>Times New Roman</vt:lpstr>
      <vt:lpstr>office theme</vt:lpstr>
      <vt:lpstr>Software Architecture Design</vt:lpstr>
      <vt:lpstr>Project's Scope</vt:lpstr>
      <vt:lpstr>Software architecture</vt:lpstr>
      <vt:lpstr>Types of Architecture styles</vt:lpstr>
      <vt:lpstr>Selected Style: Layered Architecture</vt:lpstr>
      <vt:lpstr>Why Layered Architecture?</vt:lpstr>
      <vt:lpstr>Why not other styles?</vt:lpstr>
      <vt:lpstr>PowerPoint Presentation</vt:lpstr>
      <vt:lpstr>PowerPoint Presentation</vt:lpstr>
      <vt:lpstr>PowerPoint Presentation</vt:lpstr>
      <vt:lpstr>           Component based</vt:lpstr>
      <vt:lpstr>PowerPoint Presentation</vt:lpstr>
      <vt:lpstr>Thankyou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Software Architecture Design</dc:title>
  <dc:creator/>
  <cp:lastModifiedBy>yaseen</cp:lastModifiedBy>
  <cp:revision>423</cp:revision>
  <dcterms:created xsi:type="dcterms:W3CDTF">2026-01-07T12:09:42Z</dcterms:created>
  <dcterms:modified xsi:type="dcterms:W3CDTF">2026-01-22T12:07:36Z</dcterms:modified>
</cp:coreProperties>
</file>